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rgbClr val="5E8B7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Вся база</c:v>
                  </c:pt>
                  <c:pt idx="1">
                    <c:v>Depositors</c:v>
                  </c:pt>
                  <c:pt idx="2">
                    <c:v>Dormant</c:v>
                  </c:pt>
                  <c:pt idx="3">
                    <c:v>New</c:v>
                  </c:pt>
                  <c:pt idx="4">
                    <c:v>VIP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60</c:v>
                </c:pt>
                <c:pt idx="2">
                  <c:v>40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Прирост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+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Flash</c:v>
                  </c:pt>
                  <c:pt idx="1">
                    <c:v>Daily</c:v>
                  </c:pt>
                  <c:pt idx="2">
                    <c:v>Multi-round</c:v>
                  </c:pt>
                  <c:pt idx="3">
                    <c:v>Weekly</c:v>
                  </c:pt>
                  <c:pt idx="4">
                    <c:v>Monthly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50</c:v>
                </c:pt>
                <c:pt idx="2">
                  <c:v>100</c:v>
                </c:pt>
                <c:pt idx="3">
                  <c:v>80</c:v>
                </c:pt>
                <c:pt idx="4">
                  <c:v>120</c:v>
                </c:pt>
              </c:numCache>
            </c:numRef>
          </c:val>
        </c:ser>
        <c:dLbls>
          <c:numFmt formatCode="+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840480" cy="3840480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IGAMING RETENTION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Retomat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OS для iGaming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расчётный движок для бонусов, турниров и программ лояльности — с прозрачной экономикой каждой механики ещё до запуска.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5212080"/>
            <a:ext cx="29260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Продуктовый обзор · Июнь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Удержание управляется вручную и вслепую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1783080" y="21214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Разрозненные таблицы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606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бонусов считаются в Excel и в голове — без единого источника правды.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148840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7406640" y="21214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Непредсказуемые затраты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06640" y="2606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Номинал бонуса ≠ реальная выплата. Бюджеты промо плывут, маржа под угрозой.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783080" y="4270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Регуляторный риск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83080" y="4754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Лимиты и нормы лицензий легко нарушить при ручной настройке.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297680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7406640" y="4270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Нет общей картины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06640" y="4754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Кампании пересекаются и каннибализируют друг друга на одной аудитории.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Одна среда — пять связанных модулей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базовых вводных об аудитории до готовых параметров с экономикой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53312" y="24231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35331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Configurator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3977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Бонусная матрица + модель затрат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80360" y="210312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3592" y="242316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2971800" y="3246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Generator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90088" y="3977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промо-кампании под сценарий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20640" y="210312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33872" y="2423160"/>
            <a:ext cx="640080" cy="640080"/>
          </a:xfrm>
          <a:prstGeom prst="ellipse">
            <a:avLst/>
          </a:pr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583387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5212080" y="3246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Tournament Generator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0368" y="3977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и дизайн турниров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60920" y="210312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74152" y="2423160"/>
            <a:ext cx="640080" cy="640080"/>
          </a:xfrm>
          <a:prstGeom prst="ellipse">
            <a:avLst/>
          </a:prstGeom>
          <a:solidFill>
            <a:srgbClr val="8E6C9C"/>
          </a:solidFill>
          <a:ln/>
        </p:spPr>
      </p:sp>
      <p:sp>
        <p:nvSpPr>
          <p:cNvPr id="23" name="Text 21"/>
          <p:cNvSpPr/>
          <p:nvPr/>
        </p:nvSpPr>
        <p:spPr>
          <a:xfrm>
            <a:off x="807415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540" dirty="0"/>
          </a:p>
        </p:txBody>
      </p:sp>
      <p:sp>
        <p:nvSpPr>
          <p:cNvPr id="24" name="Text 22"/>
          <p:cNvSpPr/>
          <p:nvPr/>
        </p:nvSpPr>
        <p:spPr>
          <a:xfrm>
            <a:off x="7452360" y="3246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Generator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70648" y="3977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 лояльности и удержания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01200" y="210312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314432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031443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540" dirty="0"/>
          </a:p>
        </p:txBody>
      </p:sp>
      <p:sp>
        <p:nvSpPr>
          <p:cNvPr id="29" name="Text 27"/>
          <p:cNvSpPr/>
          <p:nvPr/>
        </p:nvSpPr>
        <p:spPr>
          <a:xfrm>
            <a:off x="9692640" y="3246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 Calendar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10928" y="3977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и контроль конфликтов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детерминированы и воспроизводимы — пригодны для бюджетирования, риск-контроля и аудита.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это работает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поток: вводные → расчётный движок → готовый результат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03120" y="2606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6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Вводные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51560" y="39776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 и лицензия, размер базы, средний депозит, сегмент, RTP, платформа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3291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617720" y="228600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97880" y="2606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60" dirty="0"/>
          </a:p>
        </p:txBody>
      </p:sp>
      <p:sp>
        <p:nvSpPr>
          <p:cNvPr id="15" name="Text 13"/>
          <p:cNvSpPr/>
          <p:nvPr/>
        </p:nvSpPr>
        <p:spPr>
          <a:xfrm>
            <a:off x="470916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Движок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46320" y="39776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Региональные значения + переопределения по лицензии, статистическая модель выплат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63840" y="3291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412480" y="228600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92640" y="2606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60" dirty="0"/>
          </a:p>
        </p:txBody>
      </p:sp>
      <p:sp>
        <p:nvSpPr>
          <p:cNvPr id="21" name="Text 19"/>
          <p:cNvSpPr/>
          <p:nvPr/>
        </p:nvSpPr>
        <p:spPr>
          <a:xfrm>
            <a:off x="850392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Результат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641080" y="39776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механик, затраты P10/P50/P90, вердикт, ROI и прогноз выручки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CONFIGURATOR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Бонусная матрица под весь жизненный цикл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взаимодополняющих механик — от регистрации до удержания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291840"/>
                <a:gridCol w="47548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Механика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 в воронке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определяется размер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NDB (бездепозитный)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Снижение барьера входа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от депозита / фикс. сумма / фриспины, с потолком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(1-й депозит)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Конвертация в первый депозит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% × депозит, лимиты мин/макс по лицензии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2-й и 3-й депозит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Закрепление привычки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Множитель от депозита с потолком, собственный вейджер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Reload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Еженедельное удержание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match с недельным лимитом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Страховка от оттока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от потерь (flat) или по уровням (tier)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CONFIGURATOR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Сколько реально стоит бонус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Ожидаемая выплата моделируется статистически — три сценария отклика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принявших · осторожный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0" y="201168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17520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принявших · базовый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94960" y="201168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P90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принявших · агрессивный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20116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3816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Вердикт по затратам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8160" y="2788920"/>
            <a:ext cx="109728" cy="4572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Дёшево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3410712"/>
            <a:ext cx="109728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34107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0" y="3410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4032504"/>
            <a:ext cx="10972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40325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09760" y="40325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4654296"/>
            <a:ext cx="109728" cy="4572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46542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09760" y="4654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3931920"/>
            <a:ext cx="6949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8680" y="4114800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безубыточного вейджера.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Вейджер, при котором бонус в среднем полностью «съедается» оборотом. Выше порога — механика статистически прибыльна; ниже — щедрая и несёт выплату. Базовый P50 даёт отношение затрат к депозитам, P90 — стресс-тест бюджета.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GENERATOR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Готовая кампания, а не просто цифры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Бонусная модель упакована под бизнес-сценарий + три слоя сверху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1226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20208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Механика и объяснение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359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комбинация выбрана и почему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8094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889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Тексты по каналам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278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email, SMS, Telegram, попапы — по 3 варианта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84962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7581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Аудит по нормам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096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соответствие правилам лицензии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718304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46268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Оптимизация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965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по параметрам с эффектом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96596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Модель инкрементальной выручки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4652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= база сегмента × 5 факторов (потолок 40%)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06324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сегмента — потенциал отклика (new 25% / mid 18% / vip 12%)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Вейджер — отыгрываемость бонуса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Щедрость — процент match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Механики — богатство набора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RTP — привлекательность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Платформа — мобайл / десктоп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66544" cy="310896"/>
          </a:xfrm>
          <a:prstGeom prst="roundRect">
            <a:avLst>
              <a:gd name="adj" fmla="val 50000"/>
            </a:avLst>
          </a:pr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GENERATOR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Окупится ли турнир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базы игроков к участникам и приросту дохода (GGR-lift)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Доля базы по сегменту (eligible)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21488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Множитель вовлечённости по формату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17920" y="214884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217920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Считается только инкрементальный доход — прирост над тем, что игроки принесли бы и без турнира.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66544" cy="310896"/>
          </a:xfrm>
          <a:prstGeom prst="roundRect">
            <a:avLst>
              <a:gd name="adj" fmla="val 50000"/>
            </a:avLst>
          </a:pr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GENERATOR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Призовой фонд, ROI и безубыточность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экономическая картина события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118872" cy="178308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GGR-lift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 сценария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дохода: участники × дневной ARPU × прирост × дни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828800"/>
            <a:ext cx="118872" cy="178308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Чистая маржа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6920" y="2084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− фонд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2651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прироста вычитается стоимость призового фонда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40480"/>
            <a:ext cx="118872" cy="178308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23360" y="4096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200% потолок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4663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ценность (маржа + удержание) / фонд, по бенчмаркам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84048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3840480"/>
            <a:ext cx="118872" cy="178308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Рекомендация фонда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46920" y="4096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60% GGR-lift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29400" y="4663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Безопасная стартовая величина под регион и сегмент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реалистичности: прогноз сверяется с отраслевыми бенчмарками по региону (ROI, стоимость на активного, % участия).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8E6C9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GENERATOR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Лестница лояльности под экономику оператора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уровней; пороги масштабируются от среднего депозита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6675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1463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C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 накопления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C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Множитель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C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Депозит-бонус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6C9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4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мес.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4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мес.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4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мес.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4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Platinum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мес.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4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Diamond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мес.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874520"/>
            <a:ext cx="3931920" cy="352044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18120" y="2057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Стоимость программы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18120" y="25603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Погашение баллов 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40% начисленных, 60% breakage — выгода оператора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Награды по уровням 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кэшбэк на потери + фриспины, по распределению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Миссии 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учётом частоты и доли выполнения ≈ 35%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18120" y="4983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стоимость / месячный GGR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8E6C9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GENERATOR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Мягкая ценность — в твёрдые цифры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Retention-lift переводится в выручку и срок окупаемости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6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потолок прироста удержания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0116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6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мес.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6616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дополнительной выручки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6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5508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 лояльности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20116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068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6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Срок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окупаемости в месяцах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2976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Retention-lift зависит от сегмента (vip отзывчивее новых), режима программы (гибрид сильнее уровней или миссий по отдельности), глубины лестницы и щедрости начислений.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его основе считаются дополнительная выручка за 3 месяца, ROI и срок окупаемости — когда накопленный прирост покроет стоимость программы.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3B5BA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CALENDAR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Единый план — без пересечений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активности из генераторов сходятся в одном календаре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1554480" y="21762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Единое представление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/ неделя / список, цветовая кодировка по типу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61688" y="19202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5276088" y="21762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Обнаружение конфликтов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6008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Пересечения одного типа и сегмента помечаются предупреждением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83296" y="19202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8997696" y="21762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Перетаскивание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57616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Перепланирование и смена длительности прямо на сетке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1554480" y="4005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Шаблоны и дубли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617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Повторно используемые заготовки кампаний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61688" y="37490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6008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63600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5276088" y="4005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Экспорт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36008" y="4617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плана в CSV / JSON для отчётности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83296" y="37490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57616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357616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8997696" y="4005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 генераторов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57616" y="4617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кампаний и турниров с проверкой дублей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получает оператор на выходе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8638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Ключевые итоговые параметры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 Configurator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Параметры механик, затраты P10/P50/P90, вердикт, макс. риск, ROI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Generator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Механика, тексты по каналам, аудит по нормам, % инкрементальной выручки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Tournament Generator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Охват и участники, GGR-lift, призовой фонд, ROI, точка безубыточности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Generator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Уровни и пороги, стоимость / GGR, обязательства, retention-lift, окупаемость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Calendar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Сводный план, предупреждения о конфликтах, экспорт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Промо без догадок —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экономикой на каждом шаге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32688" y="39319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Предсказуемые затраты, соответствие лицензии и единый план удержания — в одном продукте.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50976" y="4937760"/>
            <a:ext cx="274320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Retomat · Retention OS для iGaming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Retomat — Retention OS для iGaming</dc:title>
  <dc:subject>PptxGenJS Presentation</dc:subject>
  <dc:creator>Retomat</dc:creator>
  <cp:lastModifiedBy>Retomat</cp:lastModifiedBy>
  <cp:revision>1</cp:revision>
  <dcterms:created xsi:type="dcterms:W3CDTF">2026-06-02T12:27:50Z</dcterms:created>
  <dcterms:modified xsi:type="dcterms:W3CDTF">2026-06-02T12:27:50Z</dcterms:modified>
</cp:coreProperties>
</file>